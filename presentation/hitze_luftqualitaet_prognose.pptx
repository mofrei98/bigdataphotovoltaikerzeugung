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deb33f68d34b41" /><Relationship Type="http://schemas.openxmlformats.org/officeDocument/2006/relationships/extended-properties" Target="/docProps/app.xml" Id="Rb08393a499b24864" /><Relationship Type="http://schemas.openxmlformats.org/officeDocument/2006/relationships/officeDocument" Target="/ppt/presentation.xml" Id="R6f99f7e1ff1d4d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4ee8628d71470c"/>
  </p:sldMasterIdLst>
  <p:notesMasterIdLst>
    <p:notesMasterId xmlns:r="http://schemas.openxmlformats.org/officeDocument/2006/relationships" r:id="Rd6ae5cc34097441a"/>
  </p:notesMasterIdLst>
  <p:sldIdLst>
    <p:sldId xmlns:r="http://schemas.openxmlformats.org/officeDocument/2006/relationships" id="256" r:id="R776d9a7066ef499e"/>
    <p:sldId xmlns:r="http://schemas.openxmlformats.org/officeDocument/2006/relationships" id="257" r:id="R7b17ea7b98b34988"/>
    <p:sldId xmlns:r="http://schemas.openxmlformats.org/officeDocument/2006/relationships" id="258" r:id="R73cb0fc9f75841fb"/>
    <p:sldId xmlns:r="http://schemas.openxmlformats.org/officeDocument/2006/relationships" id="259" r:id="R58dd8c35a2814263"/>
    <p:sldId xmlns:r="http://schemas.openxmlformats.org/officeDocument/2006/relationships" id="260" r:id="Ra662d31df82c4046"/>
    <p:sldId xmlns:r="http://schemas.openxmlformats.org/officeDocument/2006/relationships" id="261" r:id="Rc57052b2a7fd4dd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29d986fbde471a" /><Relationship Type="http://schemas.openxmlformats.org/officeDocument/2006/relationships/slideMaster" Target="/ppt/slideMasters/slideMaster1.xml" Id="R4a4ee8628d71470c" /><Relationship Type="http://schemas.openxmlformats.org/officeDocument/2006/relationships/notesMaster" Target="/ppt/notesMasters/notesMaster1.xml" Id="Rd6ae5cc34097441a" /><Relationship Type="http://schemas.openxmlformats.org/officeDocument/2006/relationships/presProps" Target="/ppt/presProps.xml" Id="Rc885e4fd42314071" /><Relationship Type="http://schemas.openxmlformats.org/officeDocument/2006/relationships/tableStyles" Target="/ppt/tableStyles.xml" Id="R863393f46fad49fc" /><Relationship Type="http://schemas.openxmlformats.org/officeDocument/2006/relationships/slide" Target="/ppt/slides/slide1.xml" Id="R776d9a7066ef499e" /><Relationship Type="http://schemas.openxmlformats.org/officeDocument/2006/relationships/slide" Target="/ppt/slides/slide2.xml" Id="R7b17ea7b98b34988" /><Relationship Type="http://schemas.openxmlformats.org/officeDocument/2006/relationships/slide" Target="/ppt/slides/slide3.xml" Id="R73cb0fc9f75841fb" /><Relationship Type="http://schemas.openxmlformats.org/officeDocument/2006/relationships/slide" Target="/ppt/slides/slide4.xml" Id="R58dd8c35a2814263" /><Relationship Type="http://schemas.openxmlformats.org/officeDocument/2006/relationships/slide" Target="/ppt/slides/slide5.xml" Id="Ra662d31df82c4046" /><Relationship Type="http://schemas.openxmlformats.org/officeDocument/2006/relationships/slide" Target="/ppt/slides/slide6.xml" Id="Rc57052b2a7fd4d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4c28a639204d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d25d1fd5be48b2" /><Relationship Type="http://schemas.openxmlformats.org/officeDocument/2006/relationships/notesMaster" Target="/ppt/notesMasters/notesMaster1.xml" Id="R730dea57a5f943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f81442ded74c65" /><Relationship Type="http://schemas.openxmlformats.org/officeDocument/2006/relationships/notesMaster" Target="/ppt/notesMasters/notesMaster1.xml" Id="Ra2ec534f84a942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acb0e88fb84785" /><Relationship Type="http://schemas.openxmlformats.org/officeDocument/2006/relationships/notesMaster" Target="/ppt/notesMasters/notesMaster1.xml" Id="Rf64d01f960c046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3e04b3ee2543b2" /><Relationship Type="http://schemas.openxmlformats.org/officeDocument/2006/relationships/notesMaster" Target="/ppt/notesMasters/notesMaster1.xml" Id="R699a403b9c314c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739ca1d8694824" /><Relationship Type="http://schemas.openxmlformats.org/officeDocument/2006/relationships/notesMaster" Target="/ppt/notesMasters/notesMaster1.xml" Id="R65bef26734a849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79754caa7d4c66" /><Relationship Type="http://schemas.openxmlformats.org/officeDocument/2006/relationships/notesMaster" Target="/ppt/notesMasters/notesMaster1.xml" Id="Ra6d1d2d9602e4e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fbd1e380f342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cf8b65d65f4ecc" /><Relationship Type="http://schemas.openxmlformats.org/officeDocument/2006/relationships/slideLayout" Target="/ppt/slideLayouts/slideLayout1.xml" Id="R122d750d9aa647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2d750d9aa647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6c1ae784d493d" /><Relationship Type="http://schemas.openxmlformats.org/officeDocument/2006/relationships/notesSlide" Target="/ppt/notesSlides/notesSlide1.xml" Id="R9626ea5886e24c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a9c52ac4f41f5" /><Relationship Type="http://schemas.openxmlformats.org/officeDocument/2006/relationships/notesSlide" Target="/ppt/notesSlides/notesSlide2.xml" Id="R78f298d2913349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2ae30aa6c4da7" /><Relationship Type="http://schemas.openxmlformats.org/officeDocument/2006/relationships/chart" Target="/ppt/slides/charts/chart1.xml" Id="R9127b8b02b1d49e9" /><Relationship Type="http://schemas.openxmlformats.org/officeDocument/2006/relationships/notesSlide" Target="/ppt/notesSlides/notesSlide3.xml" Id="R84c0e48f55a243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b44c4d0a944df" /><Relationship Type="http://schemas.openxmlformats.org/officeDocument/2006/relationships/chart" Target="/ppt/slides/charts/chart2.xml" Id="R5aa97ca99c054e49" /><Relationship Type="http://schemas.openxmlformats.org/officeDocument/2006/relationships/notesSlide" Target="/ppt/notesSlides/notesSlide4.xml" Id="R8aaec3ee2a8040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06d14ff73442f" /><Relationship Type="http://schemas.openxmlformats.org/officeDocument/2006/relationships/chart" Target="/ppt/slides/charts/chart3.xml" Id="R7c3903241ce845a5" /><Relationship Type="http://schemas.openxmlformats.org/officeDocument/2006/relationships/notesSlide" Target="/ppt/notesSlides/notesSlide5.xml" Id="R08854da6d92c49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50d78ec504fb7" /><Relationship Type="http://schemas.openxmlformats.org/officeDocument/2006/relationships/notesSlide" Target="/ppt/notesSlides/notesSlide6.xml" Id="R9e43fa4043be42b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Heiß minus Referenz</c:v>
          </c:tx>
          <c:spPr>
            <a:solidFill xmlns:a="http://schemas.openxmlformats.org/drawingml/2006/main">
              <a:srgbClr val="D95F02"/>
            </a:solidFill>
          </c:spPr>
          <c:cat>
            <c:strLit>
              <c:ptCount val="2"/>
              <c:pt idx="0">
                <c:v>Ozon (O₃)</c:v>
              </c:pt>
              <c:pt idx="1">
                <c:v>Stickstoffdioxid (NO₂)</c:v>
              </c:pt>
            </c:strLit>
          </c:cat>
          <c:val>
            <c:numLit>
              <c:formatCode>General</c:formatCode>
              <c:ptCount val="2"/>
              <c:pt idx="0">
                <c:v>41</c:v>
              </c:pt>
              <c:pt idx="1">
                <c:v>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Ozon</c:v>
          </c:tx>
          <c:spPr>
            <a:solidFill xmlns:a="http://schemas.openxmlformats.org/drawingml/2006/main">
              <a:srgbClr val="D95F02"/>
            </a:solidFill>
          </c:spPr>
          <c:cat>
            <c:strLit>
              <c:ptCount val="2"/>
              <c:pt idx="0">
                <c:v>Andere warme Tage</c:v>
              </c:pt>
              <c:pt idx="1">
                <c:v>Heiße Tage</c:v>
              </c:pt>
            </c:strLit>
          </c:cat>
          <c:val>
            <c:numLit>
              <c:formatCode>General</c:formatCode>
              <c:ptCount val="2"/>
              <c:pt idx="0">
                <c:v>69.35366739288308</c:v>
              </c:pt>
              <c:pt idx="1">
                <c:v>69.93464052287581</c:v>
              </c:pt>
            </c:numLit>
          </c:val>
        </c:ser>
        <c:ser>
          <c:idx val="1"/>
          <c:order val="1"/>
          <c:tx>
            <c:v>NO₂</c:v>
          </c:tx>
          <c:spPr>
            <a:solidFill xmlns:a="http://schemas.openxmlformats.org/drawingml/2006/main">
              <a:srgbClr val="1F78B4"/>
            </a:solidFill>
          </c:spPr>
          <c:cat>
            <c:strLit>
              <c:ptCount val="2"/>
              <c:pt idx="0">
                <c:v>Andere warme Tage</c:v>
              </c:pt>
              <c:pt idx="1">
                <c:v>Heiße Tage</c:v>
              </c:pt>
            </c:strLit>
          </c:cat>
          <c:val>
            <c:numLit>
              <c:formatCode>General</c:formatCode>
              <c:ptCount val="2"/>
              <c:pt idx="0">
                <c:v>8.061002178649238</c:v>
              </c:pt>
              <c:pt idx="1">
                <c:v>4.57516339869281</c:v>
              </c:pt>
            </c:numLit>
          </c:val>
        </c:ser>
        <c:ser>
          <c:idx val="2"/>
          <c:order val="2"/>
          <c:tx>
            <c:v>PM₁₀</c:v>
          </c:tx>
          <c:spPr>
            <a:solidFill xmlns:a="http://schemas.openxmlformats.org/drawingml/2006/main">
              <a:srgbClr val="7570B3"/>
            </a:solidFill>
          </c:spPr>
          <c:cat>
            <c:strLit>
              <c:ptCount val="2"/>
              <c:pt idx="0">
                <c:v>Andere warme Tage</c:v>
              </c:pt>
              <c:pt idx="1">
                <c:v>Heiße Tage</c:v>
              </c:pt>
            </c:strLit>
          </c:cat>
          <c:val>
            <c:numLit>
              <c:formatCode>General</c:formatCode>
              <c:ptCount val="2"/>
              <c:pt idx="0">
                <c:v>8.49673202614379</c:v>
              </c:pt>
              <c:pt idx="1">
                <c:v>20.26143790849673</c:v>
              </c:pt>
            </c:numLit>
          </c:val>
        </c:ser>
        <c:ser>
          <c:idx val="3"/>
          <c:order val="3"/>
          <c:tx>
            <c:v>PM₂,₅</c:v>
          </c:tx>
          <c:spPr>
            <a:solidFill xmlns:a="http://schemas.openxmlformats.org/drawingml/2006/main">
              <a:srgbClr val="66A61E"/>
            </a:solidFill>
          </c:spPr>
          <c:cat>
            <c:strLit>
              <c:ptCount val="2"/>
              <c:pt idx="0">
                <c:v>Andere warme Tage</c:v>
              </c:pt>
              <c:pt idx="1">
                <c:v>Heiße Tage</c:v>
              </c:pt>
            </c:strLit>
          </c:cat>
          <c:val>
            <c:numLit>
              <c:formatCode>General</c:formatCode>
              <c:ptCount val="2"/>
              <c:pt idx="0">
                <c:v>14.088598402323893</c:v>
              </c:pt>
              <c:pt idx="1">
                <c:v>5.228758169934641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Macro-F1 (%)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Mehrheitsklasse</c:v>
              </c:pt>
              <c:pt idx="1">
                <c:v>Random Forest</c:v>
              </c:pt>
              <c:pt idx="2">
                <c:v>Logistische Regression</c:v>
              </c:pt>
            </c:strLit>
          </c:cat>
          <c:val>
            <c:numLit>
              <c:formatCode>General</c:formatCode>
              <c:ptCount val="3"/>
              <c:pt idx="0">
                <c:v>19</c:v>
              </c:pt>
              <c:pt idx="1">
                <c:v>54.6</c:v>
              </c:pt>
              <c:pt idx="2">
                <c:v>56.1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000000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t-mark">
            <a:extLst xmlns:a="http://schemas.openxmlformats.org/drawingml/2006/main">
              <a:ext uri="{FF2B5EF4-FFF2-40B4-BE49-F238E27FC236}">
                <a16:creationId xmlns:a16="http://schemas.microsoft.com/office/drawing/2014/main" id="{A4C50BA3-C1F2-449B-A6C8-D34E2D4C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09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8B68D-8C26-42D4-86C6-C9B6E863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6191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FALLSTUDIE POTSDAM · 2016–2025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9A0C1-948F-452A-A34D-A9A49950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93345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Hitze verändert
die städtische Luft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A1FEB-0AB2-460E-92DA-DA3A610F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8572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These prüfen · UBA und DWD verbinden · dominierenden Schadstoff am Folgetag prognostizieren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43DB2-B88F-42EB-B682-FBC021C8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Jupyter-Analyse und kurze Ergebnispräsentation</a:t>
            </a:r>
          </a:p>
        </p:txBody>
      </p:sp>
    </p:spTree>
    <p:extLst>
      <p:ext uri="{BB962C8B-B14F-4D97-AF65-F5344CB8AC3E}">
        <p14:creationId xmlns:p14="http://schemas.microsoft.com/office/powerpoint/2010/main" val="18675108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B341F7-889E-441E-87DF-8E801D1A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53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829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86.770 Stundenwerte werden zu einer prüfbaren Tagesfrage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CFFE8152-7980-42B2-8519-C9B630DE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0C9F7-2815-46BA-8B44-0DA448A9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FE56E-A32A-4524-ADE4-323504E2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009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Quellen: Umweltbundesamt Luftdaten-API v4; DWD Climate Data Center</a:t>
            </a:r>
          </a:p>
        </p:txBody>
      </p:sp>
      <p:sp>
        <p:nvSpPr>
          <p:cNvPr id="5" name="timeline">
            <a:extLst xmlns:a="http://schemas.openxmlformats.org/drawingml/2006/main">
              <a:ext uri="{FF2B5EF4-FFF2-40B4-BE49-F238E27FC236}">
                <a16:creationId xmlns:a16="http://schemas.microsoft.com/office/drawing/2014/main" id="{676A4A69-998A-41AE-8B07-34A97D21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8553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dot-0">
            <a:extLst xmlns:a="http://schemas.openxmlformats.org/drawingml/2006/main">
              <a:ext uri="{FF2B5EF4-FFF2-40B4-BE49-F238E27FC236}">
                <a16:creationId xmlns:a16="http://schemas.microsoft.com/office/drawing/2014/main" id="{24528C76-443C-4B94-B054-3120A0B9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A18426-656F-4D39-B029-F2BE4D41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LUFT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C3B7D-558E-41CF-AE6D-990D9008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2190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UBA DEBB021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2516F-084A-49A3-AF85-D7C25C06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2190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O₃ · NO₂ · PM₁₀
PM₂,₅ · SO₂</a:t>
            </a:r>
          </a:p>
        </p:txBody>
      </p:sp>
      <p:sp>
        <p:nvSpPr>
          <p:cNvPr id="10" name="dot-1">
            <a:extLst xmlns:a="http://schemas.openxmlformats.org/drawingml/2006/main">
              <a:ext uri="{FF2B5EF4-FFF2-40B4-BE49-F238E27FC236}">
                <a16:creationId xmlns:a16="http://schemas.microsoft.com/office/drawing/2014/main" id="{33FFE466-E923-4C47-A8F1-3D4716D3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8F333-FD2C-4394-A448-568EC0AE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5745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WETTER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B3373B-8860-488D-85C5-FF211CF1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38550"/>
            <a:ext cx="2190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DWD 03987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40F29-5007-48AE-82F7-CCBD7945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67200"/>
            <a:ext cx="2190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Temperatur · Wind
Regen · Sonne · Strahlung</a:t>
            </a:r>
          </a:p>
        </p:txBody>
      </p:sp>
      <p:sp>
        <p:nvSpPr>
          <p:cNvPr id="14" name="dot-2">
            <a:extLst xmlns:a="http://schemas.openxmlformats.org/drawingml/2006/main">
              <a:ext uri="{FF2B5EF4-FFF2-40B4-BE49-F238E27FC236}">
                <a16:creationId xmlns:a16="http://schemas.microsoft.com/office/drawing/2014/main" id="{10747AC7-8713-4602-B2EA-B1ECAB60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F02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0B0618-2E03-4C0C-BD3B-4038C877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5745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JOIN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220244-4AF0-414F-A11F-365D3234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38550"/>
            <a:ext cx="2190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2,3 km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31687-EB4C-4492-9FE6-58D454E0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67200"/>
            <a:ext cx="2190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MEZ/MESZ → UTC
stündlicher Zeitabgleich</a:t>
            </a:r>
          </a:p>
        </p:txBody>
      </p:sp>
      <p:sp>
        <p:nvSpPr>
          <p:cNvPr id="18" name="dot-3">
            <a:extLst xmlns:a="http://schemas.openxmlformats.org/drawingml/2006/main">
              <a:ext uri="{FF2B5EF4-FFF2-40B4-BE49-F238E27FC236}">
                <a16:creationId xmlns:a16="http://schemas.microsoft.com/office/drawing/2014/main" id="{6CD332EE-0375-4AF2-B591-1A4F2E9C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D3B73B-5B60-4325-87DD-3F8E1AC5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45745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TAGESZIEL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27FE3A-FA73-43B3-AF11-9BA378E2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638550"/>
            <a:ext cx="2190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LQI-Winner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E50DE-CD7F-4926-839E-90CABC80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267200"/>
            <a:ext cx="2190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höchster Einzelindex
pro Kalendertag</a:t>
            </a:r>
          </a:p>
        </p:txBody>
      </p:sp>
    </p:spTree>
    <p:extLst>
      <p:ext uri="{BB962C8B-B14F-4D97-AF65-F5344CB8AC3E}">
        <p14:creationId xmlns:p14="http://schemas.microsoft.com/office/powerpoint/2010/main" val="8837761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87C3EE-6952-4FFB-A4D2-8A41E395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53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Ozon steigt stark – der NO₂-Rückgang bleibt aus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48F8E303-169E-44CA-8CF9-5F612334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3DEEA-6FCF-4405-9AA2-61103EBD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04749-3B5A-4618-B946-1FFE6046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009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Heiße Tage: Mai–September, oberstes Temperaturdezil (Tmax ≥ 29,8 °C); Medianvergleich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14350" y="1619250"/>
          <a:ext xmlns:a="http://schemas.openxmlformats.org/drawingml/2006/main" cx="5238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27b8b02b1d49e9"/>
          </a:graphicData>
        </a:graphic>
      </p:graphicFrame>
      <p:sp>
        <p:nvSpPr>
          <p:cNvPr id="6" name="card-660-160">
            <a:extLst xmlns:a="http://schemas.openxmlformats.org/drawingml/2006/main">
              <a:ext uri="{FF2B5EF4-FFF2-40B4-BE49-F238E27FC236}">
                <a16:creationId xmlns:a16="http://schemas.microsoft.com/office/drawing/2014/main" id="{EB48A7B8-6019-4A4B-B17E-82D4DD25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143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7" name="accent-660-160">
            <a:extLst xmlns:a="http://schemas.openxmlformats.org/drawingml/2006/main">
              <a:ext uri="{FF2B5EF4-FFF2-40B4-BE49-F238E27FC236}">
                <a16:creationId xmlns:a16="http://schemas.microsoft.com/office/drawing/2014/main" id="{8A2611B7-66E7-47E9-8B69-BAC6F755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2DC29-2066-441F-B08D-125AAE20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52600"/>
            <a:ext cx="46482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+41 µg/m³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55FB4-FE5E-48F9-B3C3-9FC22197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52700"/>
            <a:ext cx="4648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Ozonmaximum an heißen Tagen
p &lt; 0,001</a:t>
            </a:r>
          </a:p>
        </p:txBody>
      </p:sp>
      <p:sp>
        <p:nvSpPr>
          <p:cNvPr id="10" name="card-660-382">
            <a:extLst xmlns:a="http://schemas.openxmlformats.org/drawingml/2006/main">
              <a:ext uri="{FF2B5EF4-FFF2-40B4-BE49-F238E27FC236}">
                <a16:creationId xmlns:a16="http://schemas.microsoft.com/office/drawing/2014/main" id="{35756A79-2580-420B-AB91-47BC3837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5143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1" name="accent-660-382">
            <a:extLst xmlns:a="http://schemas.openxmlformats.org/drawingml/2006/main">
              <a:ext uri="{FF2B5EF4-FFF2-40B4-BE49-F238E27FC236}">
                <a16:creationId xmlns:a16="http://schemas.microsoft.com/office/drawing/2014/main" id="{F21DEEC6-341D-429F-A359-F545B3E7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8B4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F77FB-7572-4F0A-BACC-BBA56771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67150"/>
            <a:ext cx="46482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+6 µg/m³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F69EA-F72D-45EE-B6D6-E016C426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4648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NO₂-Maximum steigt ebenfalls
These nur teilweise bestätigt</a:t>
            </a:r>
          </a:p>
        </p:txBody>
      </p:sp>
    </p:spTree>
    <p:extLst>
      <p:ext uri="{BB962C8B-B14F-4D97-AF65-F5344CB8AC3E}">
        <p14:creationId xmlns:p14="http://schemas.microsoft.com/office/powerpoint/2010/main" val="20988306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F709BC-5CE2-4D3A-9251-9B7AA579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53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Hitze verschiebt vor allem die Feinstaub-Mischung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D56D44DA-0E28-466C-98DB-38E2B989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69E12-6E2E-4BA9-8444-B34DD5CF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B0A99-2C7D-4992-A2DE-D78B2768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009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Dominanz = höchster täglicher UBA-LQI-Einzelindex; warme Tage Mai–September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14350" y="1666875"/>
          <a:ext xmlns:a="http://schemas.openxmlformats.org/drawingml/2006/main" cx="6858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a97ca99c054e49"/>
          </a:graphicData>
        </a:graphic>
      </p:graphicFrame>
      <p:sp>
        <p:nvSpPr>
          <p:cNvPr id="6" name="card-830-180">
            <a:extLst xmlns:a="http://schemas.openxmlformats.org/drawingml/2006/main">
              <a:ext uri="{FF2B5EF4-FFF2-40B4-BE49-F238E27FC236}">
                <a16:creationId xmlns:a16="http://schemas.microsoft.com/office/drawing/2014/main" id="{9A637504-A461-476F-9FB8-1D2324B8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3524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7" name="accent-830-180">
            <a:extLst xmlns:a="http://schemas.openxmlformats.org/drawingml/2006/main">
              <a:ext uri="{FF2B5EF4-FFF2-40B4-BE49-F238E27FC236}">
                <a16:creationId xmlns:a16="http://schemas.microsoft.com/office/drawing/2014/main" id="{D4064979-801B-4508-B78E-6165966C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3CF10-E487-4199-A00A-90270132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43100"/>
            <a:ext cx="3028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≈70 %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BC368-8CBC-4DF9-BC9E-438B5C5F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3028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Ozon bleibt in beiden Gruppen am häufigsten dominant.</a:t>
            </a:r>
          </a:p>
        </p:txBody>
      </p:sp>
      <p:sp>
        <p:nvSpPr>
          <p:cNvPr id="10" name="card-830-382">
            <a:extLst xmlns:a="http://schemas.openxmlformats.org/drawingml/2006/main">
              <a:ext uri="{FF2B5EF4-FFF2-40B4-BE49-F238E27FC236}">
                <a16:creationId xmlns:a16="http://schemas.microsoft.com/office/drawing/2014/main" id="{C4155543-F895-4272-9FF5-AC7192AB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38550"/>
            <a:ext cx="3524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1" name="accent-830-382">
            <a:extLst xmlns:a="http://schemas.openxmlformats.org/drawingml/2006/main">
              <a:ext uri="{FF2B5EF4-FFF2-40B4-BE49-F238E27FC236}">
                <a16:creationId xmlns:a16="http://schemas.microsoft.com/office/drawing/2014/main" id="{A6AB75B2-BD0D-477F-B4D4-0B05AF17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385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70B3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1AE49-B9FD-416C-82D6-6506D293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67150"/>
            <a:ext cx="3028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8 → 20 %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70AA30-FD42-4C85-98A5-78339F27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67250"/>
            <a:ext cx="3028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PM₁₀ dominiert an heißen Tagen deutlich häufiger.</a:t>
            </a:r>
          </a:p>
        </p:txBody>
      </p:sp>
    </p:spTree>
    <p:extLst>
      <p:ext uri="{BB962C8B-B14F-4D97-AF65-F5344CB8AC3E}">
        <p14:creationId xmlns:p14="http://schemas.microsoft.com/office/powerpoint/2010/main" val="9652548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7CC94E-AB2F-4F1E-89FF-F2913B9E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953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Das Lernmodell schlägt die Baseline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F4D47591-304E-47CB-81F8-F4107579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6B56F-54AA-458C-AE8C-26482CEA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A6BD6-F5DF-4818-9B0B-16C299DB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009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Zeitlich getrennter Test: Zieljahr 2024–2025; Auswahl nach Macro-F1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0550" y="1619250"/>
          <a:ext xmlns:a="http://schemas.openxmlformats.org/drawingml/2006/main" cx="5334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3903241ce845a5"/>
          </a:graphicData>
        </a:graphic>
      </p:graphicFrame>
      <p:sp>
        <p:nvSpPr>
          <p:cNvPr id="6" name="model-title-rule">
            <a:extLst xmlns:a="http://schemas.openxmlformats.org/drawingml/2006/main">
              <a:ext uri="{FF2B5EF4-FFF2-40B4-BE49-F238E27FC236}">
                <a16:creationId xmlns:a16="http://schemas.microsoft.com/office/drawing/2014/main" id="{185662F1-39BF-49ED-8C1A-5174B5CF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7155B-2E20-44EB-B4CA-FC803E65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95450"/>
            <a:ext cx="476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Eingaben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27EB6-6C87-4A35-B21A-59338D39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66950"/>
            <a:ext cx="4762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heutige Einzelindizes
+ Wetterprognose morgen
+ Jahreszeit</a:t>
            </a:r>
          </a:p>
        </p:txBody>
      </p:sp>
      <p:sp>
        <p:nvSpPr>
          <p:cNvPr id="9" name="card-684-396">
            <a:extLst xmlns:a="http://schemas.openxmlformats.org/drawingml/2006/main">
              <a:ext uri="{FF2B5EF4-FFF2-40B4-BE49-F238E27FC236}">
                <a16:creationId xmlns:a16="http://schemas.microsoft.com/office/drawing/2014/main" id="{570B04D9-84DD-49FA-BA2C-E7DA471D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71900"/>
            <a:ext cx="2238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0" name="accent-684-396">
            <a:extLst xmlns:a="http://schemas.openxmlformats.org/drawingml/2006/main">
              <a:ext uri="{FF2B5EF4-FFF2-40B4-BE49-F238E27FC236}">
                <a16:creationId xmlns:a16="http://schemas.microsoft.com/office/drawing/2014/main" id="{D5CBD8BF-AA44-407C-865D-8CD0C70A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719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20746-1D38-4945-929A-138CBEA2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00500"/>
            <a:ext cx="174307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65 %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211034-100E-4C1A-98EF-600A54A9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00600"/>
            <a:ext cx="174307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Accuracy
auf 701 Testtagen</a:t>
            </a:r>
          </a:p>
        </p:txBody>
      </p:sp>
      <p:sp>
        <p:nvSpPr>
          <p:cNvPr id="13" name="card-953-396">
            <a:extLst xmlns:a="http://schemas.openxmlformats.org/drawingml/2006/main">
              <a:ext uri="{FF2B5EF4-FFF2-40B4-BE49-F238E27FC236}">
                <a16:creationId xmlns:a16="http://schemas.microsoft.com/office/drawing/2014/main" id="{3054AFD2-F8D3-40A4-8EFB-F723A3F5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771900"/>
            <a:ext cx="2238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4" name="accent-953-396">
            <a:extLst xmlns:a="http://schemas.openxmlformats.org/drawingml/2006/main">
              <a:ext uri="{FF2B5EF4-FFF2-40B4-BE49-F238E27FC236}">
                <a16:creationId xmlns:a16="http://schemas.microsoft.com/office/drawing/2014/main" id="{FE592C74-9B0C-403A-B643-AD643EA0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7719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CDBCD9-988A-47A6-9715-AF47024E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000500"/>
            <a:ext cx="174307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0.56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549BD-687C-4CDA-8E2F-07789E0A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800600"/>
            <a:ext cx="174307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Macro-F1
Logistische Regression</a:t>
            </a:r>
          </a:p>
        </p:txBody>
      </p:sp>
    </p:spTree>
    <p:extLst>
      <p:ext uri="{BB962C8B-B14F-4D97-AF65-F5344CB8AC3E}">
        <p14:creationId xmlns:p14="http://schemas.microsoft.com/office/powerpoint/2010/main" val="17654444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clusion-mark">
            <a:extLst xmlns:a="http://schemas.openxmlformats.org/drawingml/2006/main">
              <a:ext uri="{FF2B5EF4-FFF2-40B4-BE49-F238E27FC236}">
                <a16:creationId xmlns:a16="http://schemas.microsoft.com/office/drawing/2014/main" id="{FB8480D9-D25D-4F2D-B496-A5C3D76D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09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124D7-5F33-4570-B8F6-C5CD21AE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FAZIT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BC63F-E1FE-4832-BE32-7FFFDEC1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668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Hitze verändert die Belastung –
aber nicht exakt wie erwartet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2CC7C-40EF-49B4-807C-2E6A1A27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95250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  Ozon steigt klar.
2  NO₂ dominiert seltener, sinkt absolut aber nicht.
3  Die Slider-Prognose macht Wetterszenarien testbar.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3A54D-371D-4ECF-9B62-94298A8B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47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t>UBA + DWD · Einzelstandort · Zusammenhang, keine Kausalität · keine amtliche Warnung</a:t>
            </a:r>
          </a:p>
        </p:txBody>
      </p:sp>
    </p:spTree>
    <p:extLst>
      <p:ext uri="{BB962C8B-B14F-4D97-AF65-F5344CB8AC3E}">
        <p14:creationId xmlns:p14="http://schemas.microsoft.com/office/powerpoint/2010/main" val="9445718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2026-07-21T14:48:52.7860000Z</dcterms:created>
  <dcterms:modified xsi:type="dcterms:W3CDTF">2026-07-21T14:48:52.7860000Z</dcterms:modified>
</coreProperties>
</file>