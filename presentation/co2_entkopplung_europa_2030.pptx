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7a9955a2094473" /><Relationship Type="http://schemas.openxmlformats.org/officeDocument/2006/relationships/extended-properties" Target="/docProps/app.xml" Id="Rab6399fa296d45fd" /><Relationship Type="http://schemas.openxmlformats.org/officeDocument/2006/relationships/officeDocument" Target="/ppt/presentation.xml" Id="Rf6d3d803691445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ce27c6f924503"/>
  </p:sldMasterIdLst>
  <p:notesMasterIdLst>
    <p:notesMasterId xmlns:r="http://schemas.openxmlformats.org/officeDocument/2006/relationships" r:id="R398a943648714d3d"/>
  </p:notesMasterIdLst>
  <p:sldIdLst>
    <p:sldId xmlns:r="http://schemas.openxmlformats.org/officeDocument/2006/relationships" id="256" r:id="Rb92aba1b0b1749d7"/>
    <p:sldId xmlns:r="http://schemas.openxmlformats.org/officeDocument/2006/relationships" id="257" r:id="Rd1095d2edea54e67"/>
    <p:sldId xmlns:r="http://schemas.openxmlformats.org/officeDocument/2006/relationships" id="258" r:id="Rb5d47ab0665e45be"/>
    <p:sldId xmlns:r="http://schemas.openxmlformats.org/officeDocument/2006/relationships" id="259" r:id="R1f1139b858c54dba"/>
    <p:sldId xmlns:r="http://schemas.openxmlformats.org/officeDocument/2006/relationships" id="260" r:id="R27af2eed464949cf"/>
    <p:sldId xmlns:r="http://schemas.openxmlformats.org/officeDocument/2006/relationships" id="261" r:id="Re9502b53ed694f6a"/>
    <p:sldId xmlns:r="http://schemas.openxmlformats.org/officeDocument/2006/relationships" id="262" r:id="R7262c404ccd648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e0ebaf225c47ba" /><Relationship Type="http://schemas.openxmlformats.org/officeDocument/2006/relationships/slideMaster" Target="/ppt/slideMasters/slideMaster1.xml" Id="R256ce27c6f924503" /><Relationship Type="http://schemas.openxmlformats.org/officeDocument/2006/relationships/notesMaster" Target="/ppt/notesMasters/notesMaster1.xml" Id="R398a943648714d3d" /><Relationship Type="http://schemas.openxmlformats.org/officeDocument/2006/relationships/presProps" Target="/ppt/presProps.xml" Id="Red8e3f77f91d41f1" /><Relationship Type="http://schemas.openxmlformats.org/officeDocument/2006/relationships/tableStyles" Target="/ppt/tableStyles.xml" Id="R1863748f52a44ce0" /><Relationship Type="http://schemas.openxmlformats.org/officeDocument/2006/relationships/slide" Target="/ppt/slides/slide1.xml" Id="Rb92aba1b0b1749d7" /><Relationship Type="http://schemas.openxmlformats.org/officeDocument/2006/relationships/slide" Target="/ppt/slides/slide2.xml" Id="Rd1095d2edea54e67" /><Relationship Type="http://schemas.openxmlformats.org/officeDocument/2006/relationships/slide" Target="/ppt/slides/slide3.xml" Id="Rb5d47ab0665e45be" /><Relationship Type="http://schemas.openxmlformats.org/officeDocument/2006/relationships/slide" Target="/ppt/slides/slide4.xml" Id="R1f1139b858c54dba" /><Relationship Type="http://schemas.openxmlformats.org/officeDocument/2006/relationships/slide" Target="/ppt/slides/slide5.xml" Id="R27af2eed464949cf" /><Relationship Type="http://schemas.openxmlformats.org/officeDocument/2006/relationships/slide" Target="/ppt/slides/slide6.xml" Id="Re9502b53ed694f6a" /><Relationship Type="http://schemas.openxmlformats.org/officeDocument/2006/relationships/slide" Target="/ppt/slides/slide7.xml" Id="R7262c404ccd6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e69b237e3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231898c4114ade" /><Relationship Type="http://schemas.openxmlformats.org/officeDocument/2006/relationships/notesMaster" Target="/ppt/notesMasters/notesMaster1.xml" Id="Rac5f9e58202445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87c54e9734a11" /><Relationship Type="http://schemas.openxmlformats.org/officeDocument/2006/relationships/notesMaster" Target="/ppt/notesMasters/notesMaster1.xml" Id="Rdaf2d8ee0f4848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f31a4439a046ec" /><Relationship Type="http://schemas.openxmlformats.org/officeDocument/2006/relationships/notesMaster" Target="/ppt/notesMasters/notesMaster1.xml" Id="Rd759b79fd58c47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ff87ad7703406f" /><Relationship Type="http://schemas.openxmlformats.org/officeDocument/2006/relationships/notesMaster" Target="/ppt/notesMasters/notesMaster1.xml" Id="Rd0f300aee0de49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3f18a0a2f04498" /><Relationship Type="http://schemas.openxmlformats.org/officeDocument/2006/relationships/notesMaster" Target="/ppt/notesMasters/notesMaster1.xml" Id="R0e19d0e3229941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be9ad7d6c64c66" /><Relationship Type="http://schemas.openxmlformats.org/officeDocument/2006/relationships/notesMaster" Target="/ppt/notesMasters/notesMaster1.xml" Id="Re8d0a7dad675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55f2dcc1db43f9" /><Relationship Type="http://schemas.openxmlformats.org/officeDocument/2006/relationships/notesMaster" Target="/ppt/notesMasters/notesMaster1.xml" Id="Rff62b38e2d52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6733122a6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85bdec65a84f72" /><Relationship Type="http://schemas.openxmlformats.org/officeDocument/2006/relationships/slideLayout" Target="/ppt/slideLayouts/slideLayout1.xml" Id="R816b09c130a046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6b09c130a046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dc38383cd40f5" /><Relationship Type="http://schemas.openxmlformats.org/officeDocument/2006/relationships/image" Target="/ppt/media/image.png" Id="R0fc80e01347f4735" /><Relationship Type="http://schemas.openxmlformats.org/officeDocument/2006/relationships/notesSlide" Target="/ppt/notesSlides/notesSlide1.xml" Id="Rc93acee58270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cfd491b62442c" /><Relationship Type="http://schemas.openxmlformats.org/officeDocument/2006/relationships/notesSlide" Target="/ppt/notesSlides/notesSlide2.xml" Id="Rfdb6b084fcfd40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5d59cca814f65" /><Relationship Type="http://schemas.openxmlformats.org/officeDocument/2006/relationships/image" Target="/ppt/media/image2.png" Id="R97ecf4baed9c4c2c" /><Relationship Type="http://schemas.openxmlformats.org/officeDocument/2006/relationships/notesSlide" Target="/ppt/notesSlides/notesSlide3.xml" Id="Rad0f3d3d7a7a4e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8a7ed77c47f3" /><Relationship Type="http://schemas.openxmlformats.org/officeDocument/2006/relationships/image" Target="/ppt/media/image3.png" Id="R075d2c4c30e64441" /><Relationship Type="http://schemas.openxmlformats.org/officeDocument/2006/relationships/notesSlide" Target="/ppt/notesSlides/notesSlide4.xml" Id="R1c4ce903363a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5cc89b2354bb5" /><Relationship Type="http://schemas.openxmlformats.org/officeDocument/2006/relationships/image" Target="/ppt/media/image4.png" Id="R82d11ec29e674ac6" /><Relationship Type="http://schemas.openxmlformats.org/officeDocument/2006/relationships/notesSlide" Target="/ppt/notesSlides/notesSlide5.xml" Id="Rdee4e373f12b4c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2f097f65c4455" /><Relationship Type="http://schemas.openxmlformats.org/officeDocument/2006/relationships/image" Target="/ppt/media/image5.png" Id="R78e35f2432974cbd" /><Relationship Type="http://schemas.openxmlformats.org/officeDocument/2006/relationships/notesSlide" Target="/ppt/notesSlides/notesSlide6.xml" Id="R21fb99a93492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45fc4b7434056" /><Relationship Type="http://schemas.openxmlformats.org/officeDocument/2006/relationships/notesSlide" Target="/ppt/notesSlides/notesSlide7.xml" Id="Ra1a8bc514970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AE7018A2-B395-46FF-BF8B-5A09CCCC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36E5D69-D599-422D-95F6-065E5221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54673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Entkopplung von
Wirtschaftswachstum
und CO₂-Emissionen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4D0EC4E-CB2C-4DF4-B679-E3E29270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533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Historische EU-27-Analyse und Prognose für Deutschland bis 2030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26BF7EAE-1404-4913-831D-8A777F3C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000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Morris Freihoff
Data Analytics &amp; Big Data</a:t>
            </a:r>
          </a:p>
        </p:txBody>
      </p:sp>
      <p:sp>
        <p:nvSpPr>
          <p:cNvPr id="5" name="source-1">
            <a:extLst xmlns:a="http://schemas.openxmlformats.org/drawingml/2006/main">
              <a:ext uri="{FF2B5EF4-FFF2-40B4-BE49-F238E27FC236}">
                <a16:creationId xmlns:a16="http://schemas.microsoft.com/office/drawing/2014/main" id="{DE3C824B-CA3A-4747-8BF0-664920D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Daten: Global Carbon Budget (2025); World Bank (2026); Aufbereitung: Our World in Data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8F028EC7-D9CE-4BD6-AC77-FF353BBD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80e01347f4735"/>
          <a:stretch xmlns:a="http://schemas.openxmlformats.org/drawingml/2006/main"/>
        </p:blipFill>
        <p:spPr>
          <a:xfrm xmlns:a="http://schemas.openxmlformats.org/drawingml/2006/main">
            <a:off x="6429375" y="1778305"/>
            <a:ext cx="5219700" cy="28060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48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590E86E-C2F1-4D04-B520-0357E4E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Drei konsistente Reihen machen die These überprüfbar</a:t>
            </a:r>
          </a:p>
        </p:txBody>
      </p:sp>
      <p:sp>
        <p:nvSpPr>
          <p:cNvPr id="2" name="method-rule">
            <a:extLst xmlns:a="http://schemas.openxmlformats.org/drawingml/2006/main">
              <a:ext uri="{FF2B5EF4-FFF2-40B4-BE49-F238E27FC236}">
                <a16:creationId xmlns:a16="http://schemas.microsoft.com/office/drawing/2014/main" id="{1866664D-D2BD-42CA-B7CA-03ED654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04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method-left-heading">
            <a:extLst xmlns:a="http://schemas.openxmlformats.org/drawingml/2006/main">
              <a:ext uri="{FF2B5EF4-FFF2-40B4-BE49-F238E27FC236}">
                <a16:creationId xmlns:a16="http://schemas.microsoft.com/office/drawing/2014/main" id="{0476615E-77E1-4227-BED1-B1186C5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381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Definition</a:t>
            </a:r>
          </a:p>
        </p:txBody>
      </p:sp>
      <p:sp>
        <p:nvSpPr>
          <p:cNvPr id="4" name="method-left-body">
            <a:extLst xmlns:a="http://schemas.openxmlformats.org/drawingml/2006/main">
              <a:ext uri="{FF2B5EF4-FFF2-40B4-BE49-F238E27FC236}">
                <a16:creationId xmlns:a16="http://schemas.microsoft.com/office/drawing/2014/main" id="{B65CD750-D7A4-43A3-B7D7-162F7DB4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Absolute Entkopplung
Δ reales Gesamt-BIP &gt; 0
und
Δ territoriales CO₂ &lt; 0
EU-27 · 2005–2024</a:t>
            </a:r>
          </a:p>
        </p:txBody>
      </p:sp>
      <p:sp>
        <p:nvSpPr>
          <p:cNvPr id="5" name="method-right-heading">
            <a:extLst xmlns:a="http://schemas.openxmlformats.org/drawingml/2006/main">
              <a:ext uri="{FF2B5EF4-FFF2-40B4-BE49-F238E27FC236}">
                <a16:creationId xmlns:a16="http://schemas.microsoft.com/office/drawing/2014/main" id="{09F65AD3-EFF5-4804-83B4-193DF0AD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90700"/>
            <a:ext cx="5381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Daten und Prüfung</a:t>
            </a:r>
          </a:p>
        </p:txBody>
      </p:sp>
      <p:sp>
        <p:nvSpPr>
          <p:cNvPr id="6" name="method-right-body">
            <a:extLst xmlns:a="http://schemas.openxmlformats.org/drawingml/2006/main">
              <a:ext uri="{FF2B5EF4-FFF2-40B4-BE49-F238E27FC236}">
                <a16:creationId xmlns:a16="http://schemas.microsoft.com/office/drawing/2014/main" id="{6BBAD8A2-0421-41CB-932E-6B73D36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5381625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OWID / Global Carbon Budget 2025
World Bank, konstante US-Dollar
Endpunktvergleich plus log-linearer Trendcheck
Deutschland: 1990–2024
Rolling-origin-Validierung, Horizonte 1–6 Jahre</a:t>
            </a:r>
          </a:p>
        </p:txBody>
      </p:sp>
      <p:sp>
        <p:nvSpPr>
          <p:cNvPr id="7" name="source-2">
            <a:extLst xmlns:a="http://schemas.openxmlformats.org/drawingml/2006/main">
              <a:ext uri="{FF2B5EF4-FFF2-40B4-BE49-F238E27FC236}">
                <a16:creationId xmlns:a16="http://schemas.microsoft.com/office/drawing/2014/main" id="{BB8BC857-15F5-464C-853A-5B1D496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Definitionen und Metadaten vollständig im Jupyter-Notebook dokumentiert</a:t>
            </a:r>
          </a:p>
        </p:txBody>
      </p:sp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3EF55184-4249-42FB-9148-D44915D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4886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F9DCEF3-2BD1-48A5-96C6-EDE15633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26 von 27 EU-Staaten erfüllen die Entkopplungsthese</a:t>
            </a:r>
          </a:p>
        </p:txBody>
      </p:sp>
      <p:sp>
        <p:nvSpPr>
          <p:cNvPr id="2" name="stat-card-1">
            <a:extLst xmlns:a="http://schemas.openxmlformats.org/drawingml/2006/main">
              <a:ext uri="{FF2B5EF4-FFF2-40B4-BE49-F238E27FC236}">
                <a16:creationId xmlns:a16="http://schemas.microsoft.com/office/drawing/2014/main" id="{D1A969CA-5AC1-4D17-BE86-63B4FDE5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2">
            <a:extLst xmlns:a="http://schemas.openxmlformats.org/drawingml/2006/main">
              <a:ext uri="{FF2B5EF4-FFF2-40B4-BE49-F238E27FC236}">
                <a16:creationId xmlns:a16="http://schemas.microsoft.com/office/drawing/2014/main" id="{DEE02371-A361-4B6A-86D6-49EFEB2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esult-explainer">
            <a:extLst xmlns:a="http://schemas.openxmlformats.org/drawingml/2006/main">
              <a:ext uri="{FF2B5EF4-FFF2-40B4-BE49-F238E27FC236}">
                <a16:creationId xmlns:a16="http://schemas.microsoft.com/office/drawing/2014/main" id="{6FECDC18-672D-4D94-B93C-9431F0E4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5524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Die grüne Fläche markiert steigendes reales BIP bei sinkenden territorialen CO₂-Emissionen.</a:t>
            </a:r>
          </a:p>
        </p:txBody>
      </p:sp>
      <p:sp>
        <p:nvSpPr>
          <p:cNvPr id="5" name="result-stat-1">
            <a:extLst xmlns:a="http://schemas.openxmlformats.org/drawingml/2006/main">
              <a:ext uri="{FF2B5EF4-FFF2-40B4-BE49-F238E27FC236}">
                <a16:creationId xmlns:a16="http://schemas.microsoft.com/office/drawing/2014/main" id="{0C64F85A-C502-48EA-882D-CB5387BC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38B45"/>
                </a:solidFill>
                <a:latin typeface="Arial"/>
                <a:ea typeface="Arial"/>
                <a:cs typeface="Arial"/>
              </a:defRPr>
            </a:pPr>
            <a:r>
              <a:t>96,3 %</a:t>
            </a:r>
          </a:p>
        </p:txBody>
      </p:sp>
      <p:sp>
        <p:nvSpPr>
          <p:cNvPr id="6" name="result-stat-label-1">
            <a:extLst xmlns:a="http://schemas.openxmlformats.org/drawingml/2006/main">
              <a:ext uri="{FF2B5EF4-FFF2-40B4-BE49-F238E27FC236}">
                <a16:creationId xmlns:a16="http://schemas.microsoft.com/office/drawing/2014/main" id="{4AEA8A79-08CE-4085-8E31-CACE593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768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26 von 27
Staaten</a:t>
            </a:r>
          </a:p>
        </p:txBody>
      </p:sp>
      <p:sp>
        <p:nvSpPr>
          <p:cNvPr id="7" name="result-stat-2">
            <a:extLst xmlns:a="http://schemas.openxmlformats.org/drawingml/2006/main">
              <a:ext uri="{FF2B5EF4-FFF2-40B4-BE49-F238E27FC236}">
                <a16:creationId xmlns:a16="http://schemas.microsoft.com/office/drawing/2014/main" id="{2F1A2343-6166-4CD9-A56D-9C11022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14750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D95F02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result-stat-label-2">
            <a:extLst xmlns:a="http://schemas.openxmlformats.org/drawingml/2006/main">
              <a:ext uri="{FF2B5EF4-FFF2-40B4-BE49-F238E27FC236}">
                <a16:creationId xmlns:a16="http://schemas.microsoft.com/office/drawing/2014/main" id="{EF350E11-CE41-4164-9534-55FEB2E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768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Ausnahme:
Griechenland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08952EBC-F6A9-49ED-AAAC-D078C8E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Global Carbon Budget (2025); World Bank (2026); eigene Berechnung, 2005–2024</a:t>
            </a:r>
          </a:p>
        </p:txBody>
      </p:sp>
      <p:sp>
        <p:nvSpPr>
          <p:cNvPr id="10" name="page-3">
            <a:extLst xmlns:a="http://schemas.openxmlformats.org/drawingml/2006/main">
              <a:ext uri="{FF2B5EF4-FFF2-40B4-BE49-F238E27FC236}">
                <a16:creationId xmlns:a16="http://schemas.microsoft.com/office/drawing/2014/main" id="{8359DC24-E533-4456-B03E-5B5C5B14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cf4baed9c4c2c"/>
          <a:stretch xmlns:a="http://schemas.openxmlformats.org/drawingml/2006/main"/>
        </p:blipFill>
        <p:spPr>
          <a:xfrm xmlns:a="http://schemas.openxmlformats.org/drawingml/2006/main">
            <a:off x="381000" y="1702076"/>
            <a:ext cx="5524500" cy="39872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8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36C9412F-C006-46D7-B06D-2268194B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Deutschland entkoppelte Wachstum und CO₂ deutlich</a:t>
            </a:r>
          </a:p>
        </p:txBody>
      </p:sp>
      <p:sp>
        <p:nvSpPr>
          <p:cNvPr id="2" name="germany-chart-border">
            <a:extLst xmlns:a="http://schemas.openxmlformats.org/drawingml/2006/main">
              <a:ext uri="{FF2B5EF4-FFF2-40B4-BE49-F238E27FC236}">
                <a16:creationId xmlns:a16="http://schemas.microsoft.com/office/drawing/2014/main" id="{1775592E-FD53-4ED2-AD76-48FAA436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524500" cy="4953000"/>
          </a:xfrm>
          <a:prstGeom xmlns:a="http://schemas.openxmlformats.org/drawingml/2006/main" prst="roundRect">
            <a:avLst>
              <a:gd name="adj" fmla="val 1538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" name="germany-explainer">
            <a:extLst xmlns:a="http://schemas.openxmlformats.org/drawingml/2006/main">
              <a:ext uri="{FF2B5EF4-FFF2-40B4-BE49-F238E27FC236}">
                <a16:creationId xmlns:a16="http://schemas.microsoft.com/office/drawing/2014/main" id="{F7FB6B54-B3EB-48EF-8E06-AFC510D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5334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Seit 2005 wuchs die reale Wirtschaftsleistung, während die territorialen Emissionen weiter fielen.</a:t>
            </a:r>
          </a:p>
        </p:txBody>
      </p:sp>
      <p:sp>
        <p:nvSpPr>
          <p:cNvPr id="4" name="germany-stat-1">
            <a:extLst xmlns:a="http://schemas.openxmlformats.org/drawingml/2006/main">
              <a:ext uri="{FF2B5EF4-FFF2-40B4-BE49-F238E27FC236}">
                <a16:creationId xmlns:a16="http://schemas.microsoft.com/office/drawing/2014/main" id="{FC0BAC5A-C3C6-41F8-AC61-883E8A4A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00500"/>
            <a:ext cx="2190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+23,8 %</a:t>
            </a:r>
          </a:p>
        </p:txBody>
      </p:sp>
      <p:sp>
        <p:nvSpPr>
          <p:cNvPr id="5" name="germany-stat-label-1">
            <a:extLst xmlns:a="http://schemas.openxmlformats.org/drawingml/2006/main">
              <a:ext uri="{FF2B5EF4-FFF2-40B4-BE49-F238E27FC236}">
                <a16:creationId xmlns:a16="http://schemas.microsoft.com/office/drawing/2014/main" id="{FEE29AF4-8D87-4EB6-B001-6241FA5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5775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reales BIP</a:t>
            </a:r>
          </a:p>
        </p:txBody>
      </p:sp>
      <p:sp>
        <p:nvSpPr>
          <p:cNvPr id="6" name="germany-stat-2">
            <a:extLst xmlns:a="http://schemas.openxmlformats.org/drawingml/2006/main">
              <a:ext uri="{FF2B5EF4-FFF2-40B4-BE49-F238E27FC236}">
                <a16:creationId xmlns:a16="http://schemas.microsoft.com/office/drawing/2014/main" id="{B0CFB61C-9D03-4D43-BF97-5AD4B23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190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95F02"/>
                </a:solidFill>
                <a:latin typeface="Arial"/>
                <a:ea typeface="Arial"/>
                <a:cs typeface="Arial"/>
              </a:defRPr>
            </a:pPr>
            <a:r>
              <a:t>−34,1 %</a:t>
            </a:r>
          </a:p>
        </p:txBody>
      </p:sp>
      <p:sp>
        <p:nvSpPr>
          <p:cNvPr id="7" name="germany-stat-label-2">
            <a:extLst xmlns:a="http://schemas.openxmlformats.org/drawingml/2006/main">
              <a:ext uri="{FF2B5EF4-FFF2-40B4-BE49-F238E27FC236}">
                <a16:creationId xmlns:a16="http://schemas.microsoft.com/office/drawing/2014/main" id="{73DD6845-E7BD-4CF7-AA1D-530D6FB3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territoriales CO₂</a:t>
            </a:r>
          </a:p>
        </p:txBody>
      </p:sp>
      <p:sp>
        <p:nvSpPr>
          <p:cNvPr id="8" name="source-4">
            <a:extLst xmlns:a="http://schemas.openxmlformats.org/drawingml/2006/main">
              <a:ext uri="{FF2B5EF4-FFF2-40B4-BE49-F238E27FC236}">
                <a16:creationId xmlns:a16="http://schemas.microsoft.com/office/drawing/2014/main" id="{FCA4CF95-6BBE-435A-9D7A-352DEE6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296025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Global Carbon Budget (2025); World Bank (2026); eigene Berechnung</a:t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A7477CA8-1BA5-4B1B-B570-A7580AAE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d2c4c30e64441"/>
          <a:stretch xmlns:a="http://schemas.openxmlformats.org/drawingml/2006/main"/>
        </p:blipFill>
        <p:spPr>
          <a:xfrm xmlns:a="http://schemas.openxmlformats.org/drawingml/2006/main">
            <a:off x="552450" y="2298502"/>
            <a:ext cx="5219700" cy="25657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3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C4F6D24F-CEA3-434E-886F-1756E92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Die einfache Drift prognostiziert am zuverlässigsten</a:t>
            </a:r>
          </a:p>
        </p:txBody>
      </p:sp>
      <p:sp>
        <p:nvSpPr>
          <p:cNvPr id="2" name="model-card-1">
            <a:extLst xmlns:a="http://schemas.openxmlformats.org/drawingml/2006/main">
              <a:ext uri="{FF2B5EF4-FFF2-40B4-BE49-F238E27FC236}">
                <a16:creationId xmlns:a16="http://schemas.microsoft.com/office/drawing/2014/main" id="{8DF9B751-B5CE-4B9D-92A7-8B78A742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model-card-2">
            <a:extLst xmlns:a="http://schemas.openxmlformats.org/drawingml/2006/main">
              <a:ext uri="{FF2B5EF4-FFF2-40B4-BE49-F238E27FC236}">
                <a16:creationId xmlns:a16="http://schemas.microsoft.com/office/drawing/2014/main" id="{4FFF9CBB-9828-4787-B3AA-18778CD7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model-card-3">
            <a:extLst xmlns:a="http://schemas.openxmlformats.org/drawingml/2006/main">
              <a:ext uri="{FF2B5EF4-FFF2-40B4-BE49-F238E27FC236}">
                <a16:creationId xmlns:a16="http://schemas.microsoft.com/office/drawing/2014/main" id="{439EE3ED-69E6-4EAB-9EB8-BA30854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model-card-title-1">
            <a:extLst xmlns:a="http://schemas.openxmlformats.org/drawingml/2006/main">
              <a:ext uri="{FF2B5EF4-FFF2-40B4-BE49-F238E27FC236}">
                <a16:creationId xmlns:a16="http://schemas.microsoft.com/office/drawing/2014/main" id="{187A6243-6650-4174-8D8F-61F4826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5F02"/>
                </a:solidFill>
                <a:latin typeface="Arial"/>
                <a:ea typeface="Arial"/>
                <a:cs typeface="Arial"/>
              </a:defRPr>
            </a:pPr>
            <a:r>
              <a:t>Drift</a:t>
            </a:r>
          </a:p>
        </p:txBody>
      </p:sp>
      <p:sp>
        <p:nvSpPr>
          <p:cNvPr id="6" name="model-card-body-1">
            <a:extLst xmlns:a="http://schemas.openxmlformats.org/drawingml/2006/main">
              <a:ext uri="{FF2B5EF4-FFF2-40B4-BE49-F238E27FC236}">
                <a16:creationId xmlns:a16="http://schemas.microsoft.com/office/drawing/2014/main" id="{F1B0B73E-F836-458F-BC7D-A8533430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niedrigster Fehler im Vergleich</a:t>
            </a:r>
          </a:p>
        </p:txBody>
      </p:sp>
      <p:sp>
        <p:nvSpPr>
          <p:cNvPr id="7" name="model-card-title-2">
            <a:extLst xmlns:a="http://schemas.openxmlformats.org/drawingml/2006/main">
              <a:ext uri="{FF2B5EF4-FFF2-40B4-BE49-F238E27FC236}">
                <a16:creationId xmlns:a16="http://schemas.microsoft.com/office/drawing/2014/main" id="{94CE8756-4891-4E72-AD40-DB5AF165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56,6 Mio. t</a:t>
            </a:r>
          </a:p>
        </p:txBody>
      </p:sp>
      <p:sp>
        <p:nvSpPr>
          <p:cNvPr id="8" name="model-card-body-2">
            <a:extLst xmlns:a="http://schemas.openxmlformats.org/drawingml/2006/main">
              <a:ext uri="{FF2B5EF4-FFF2-40B4-BE49-F238E27FC236}">
                <a16:creationId xmlns:a16="http://schemas.microsoft.com/office/drawing/2014/main" id="{CE7D187D-F72C-4120-A746-1E0619A0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Out-of-Sample RMSE</a:t>
            </a:r>
          </a:p>
        </p:txBody>
      </p:sp>
      <p:sp>
        <p:nvSpPr>
          <p:cNvPr id="9" name="model-card-title-3">
            <a:extLst xmlns:a="http://schemas.openxmlformats.org/drawingml/2006/main">
              <a:ext uri="{FF2B5EF4-FFF2-40B4-BE49-F238E27FC236}">
                <a16:creationId xmlns:a16="http://schemas.microsoft.com/office/drawing/2014/main" id="{E453B849-C985-4B9D-B179-9B4BA86C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266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60 Prognosen</a:t>
            </a:r>
          </a:p>
        </p:txBody>
      </p:sp>
      <p:sp>
        <p:nvSpPr>
          <p:cNvPr id="10" name="model-card-body-3">
            <a:extLst xmlns:a="http://schemas.openxmlformats.org/drawingml/2006/main">
              <a:ext uri="{FF2B5EF4-FFF2-40B4-BE49-F238E27FC236}">
                <a16:creationId xmlns:a16="http://schemas.microsoft.com/office/drawing/2014/main" id="{4F28F1B1-7C6F-4938-AF17-078D5C5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10 Ursprünge × 6 Horizonte</a:t>
            </a:r>
          </a:p>
        </p:txBody>
      </p:sp>
      <p:sp>
        <p:nvSpPr>
          <p:cNvPr id="11" name="source-5">
            <a:extLst xmlns:a="http://schemas.openxmlformats.org/drawingml/2006/main">
              <a:ext uri="{FF2B5EF4-FFF2-40B4-BE49-F238E27FC236}">
                <a16:creationId xmlns:a16="http://schemas.microsoft.com/office/drawing/2014/main" id="{FD0130FA-1871-4DD5-BE68-66324E0D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Eigene Rolling-origin-Validierung; keine zufällige Train-Test-Aufteilung</a:t>
            </a:r>
          </a:p>
        </p:txBody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3F0EF8AE-404A-407C-83EF-8D576879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11ec29e674ac6"/>
          <a:stretch xmlns:a="http://schemas.openxmlformats.org/drawingml/2006/main"/>
        </p:blipFill>
        <p:spPr>
          <a:xfrm xmlns:a="http://schemas.openxmlformats.org/drawingml/2006/main">
            <a:off x="381000" y="2100500"/>
            <a:ext cx="5524500" cy="2999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66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3A78D25-6D3C-4885-8F0E-A30CA4E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Für 2030 ergibt sich eine Schätzung von 487 Mio. t CO₂</a:t>
            </a:r>
          </a:p>
        </p:txBody>
      </p:sp>
      <p:sp>
        <p:nvSpPr>
          <p:cNvPr id="2" name="forecast-stat-card-1">
            <a:extLst xmlns:a="http://schemas.openxmlformats.org/drawingml/2006/main">
              <a:ext uri="{FF2B5EF4-FFF2-40B4-BE49-F238E27FC236}">
                <a16:creationId xmlns:a16="http://schemas.microsoft.com/office/drawing/2014/main" id="{C43EB358-4BAF-4140-A9A5-37CE7D5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forecast-stat-card-2">
            <a:extLst xmlns:a="http://schemas.openxmlformats.org/drawingml/2006/main">
              <a:ext uri="{FF2B5EF4-FFF2-40B4-BE49-F238E27FC236}">
                <a16:creationId xmlns:a16="http://schemas.microsoft.com/office/drawing/2014/main" id="{4D51D20D-D161-4207-A6A1-05F933F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recast-explainer">
            <a:extLst xmlns:a="http://schemas.openxmlformats.org/drawingml/2006/main">
              <a:ext uri="{FF2B5EF4-FFF2-40B4-BE49-F238E27FC236}">
                <a16:creationId xmlns:a16="http://schemas.microsoft.com/office/drawing/2014/main" id="{29E79D4A-464C-496D-8A57-3B0943C0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524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Die Drift schreibt die durchschnittliche Abnahme seit 1990 fort. Die Fehlerbänder zeigen die Streuung früherer Mehrjahresprognosen.</a:t>
            </a:r>
          </a:p>
        </p:txBody>
      </p:sp>
      <p:sp>
        <p:nvSpPr>
          <p:cNvPr id="5" name="forecast-stat-1">
            <a:extLst xmlns:a="http://schemas.openxmlformats.org/drawingml/2006/main">
              <a:ext uri="{FF2B5EF4-FFF2-40B4-BE49-F238E27FC236}">
                <a16:creationId xmlns:a16="http://schemas.microsoft.com/office/drawing/2014/main" id="{D7138C0B-A6C4-403F-8038-7EB98838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95F02"/>
                </a:solidFill>
                <a:latin typeface="Arial"/>
                <a:ea typeface="Arial"/>
                <a:cs typeface="Arial"/>
              </a:defRPr>
            </a:pPr>
            <a:r>
              <a:t>487</a:t>
            </a:r>
          </a:p>
        </p:txBody>
      </p:sp>
      <p:sp>
        <p:nvSpPr>
          <p:cNvPr id="6" name="forecast-stat-label-1">
            <a:extLst xmlns:a="http://schemas.openxmlformats.org/drawingml/2006/main">
              <a:ext uri="{FF2B5EF4-FFF2-40B4-BE49-F238E27FC236}">
                <a16:creationId xmlns:a16="http://schemas.microsoft.com/office/drawing/2014/main" id="{151C0AFA-3FAA-48A0-8CA4-E80F7F01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76800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Mio. t CO₂
Punktprognose</a:t>
            </a:r>
          </a:p>
        </p:txBody>
      </p:sp>
      <p:sp>
        <p:nvSpPr>
          <p:cNvPr id="7" name="forecast-stat-2">
            <a:extLst xmlns:a="http://schemas.openxmlformats.org/drawingml/2006/main">
              <a:ext uri="{FF2B5EF4-FFF2-40B4-BE49-F238E27FC236}">
                <a16:creationId xmlns:a16="http://schemas.microsoft.com/office/drawing/2014/main" id="{0080D76F-D059-42D0-B05F-38CDC13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3380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358–572</a:t>
            </a:r>
          </a:p>
        </p:txBody>
      </p:sp>
      <p:sp>
        <p:nvSpPr>
          <p:cNvPr id="8" name="forecast-stat-label-2">
            <a:extLst xmlns:a="http://schemas.openxmlformats.org/drawingml/2006/main">
              <a:ext uri="{FF2B5EF4-FFF2-40B4-BE49-F238E27FC236}">
                <a16:creationId xmlns:a16="http://schemas.microsoft.com/office/drawing/2014/main" id="{B592F1E2-1C0A-4C02-851D-4FAE3557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76800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Mio. t CO₂
95%-Fehlerband</a:t>
            </a:r>
          </a:p>
        </p:txBody>
      </p:sp>
      <p:sp>
        <p:nvSpPr>
          <p:cNvPr id="9" name="source-6">
            <a:extLst xmlns:a="http://schemas.openxmlformats.org/drawingml/2006/main">
              <a:ext uri="{FF2B5EF4-FFF2-40B4-BE49-F238E27FC236}">
                <a16:creationId xmlns:a16="http://schemas.microsoft.com/office/drawing/2014/main" id="{292F40D9-66C0-4035-911A-B1A8346A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Eigene Prognose auf Basis Global Carbon Budget (2025); Daten bis 2024</a:t>
            </a:r>
          </a:p>
        </p:txBody>
      </p:sp>
      <p:sp>
        <p:nvSpPr>
          <p:cNvPr id="10" name="page-6">
            <a:extLst xmlns:a="http://schemas.openxmlformats.org/drawingml/2006/main">
              <a:ext uri="{FF2B5EF4-FFF2-40B4-BE49-F238E27FC236}">
                <a16:creationId xmlns:a16="http://schemas.microsoft.com/office/drawing/2014/main" id="{A4827458-D887-4DD2-ACA1-B132B495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35f2432974cbd"/>
          <a:stretch xmlns:a="http://schemas.openxmlformats.org/drawingml/2006/main"/>
        </p:blipFill>
        <p:spPr>
          <a:xfrm xmlns:a="http://schemas.openxmlformats.org/drawingml/2006/main">
            <a:off x="381000" y="2210726"/>
            <a:ext cx="5524500" cy="29699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6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7E036B79-268A-4407-BA37-3CEDAD8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Die These wird unterstützt – die Prognose bleibt unsicher</a:t>
            </a:r>
          </a:p>
        </p:txBody>
      </p:sp>
      <p:sp>
        <p:nvSpPr>
          <p:cNvPr id="2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3097944C-E320-4CFF-BA70-D136AD77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Einordnung
Absolute Entkopplung ist in der EU-27 verbreitet, aber kein Kausalbeweis. Territoriale Emissionen erfassen ausgelagerte Produktion nicht. Die 2030-Schätzung ist eine statistische Fortschreibung. KI unterstützte Struktur und Code; Daten, Berechnungen und Aussagen wurden reproduziert und quellengeprüft.</a:t>
            </a:r>
          </a:p>
        </p:txBody>
      </p:sp>
      <p:sp>
        <p:nvSpPr>
          <p:cNvPr id="3" name="conclusion-card-1">
            <a:extLst xmlns:a="http://schemas.openxmlformats.org/drawingml/2006/main">
              <a:ext uri="{FF2B5EF4-FFF2-40B4-BE49-F238E27FC236}">
                <a16:creationId xmlns:a16="http://schemas.microsoft.com/office/drawing/2014/main" id="{F3B4A0BD-B30E-47C5-80C8-23B87922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5623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clusion-card-2">
            <a:extLst xmlns:a="http://schemas.openxmlformats.org/drawingml/2006/main">
              <a:ext uri="{FF2B5EF4-FFF2-40B4-BE49-F238E27FC236}">
                <a16:creationId xmlns:a16="http://schemas.microsoft.com/office/drawing/2014/main" id="{F6A7D68A-49D7-4635-BC0C-4EE1D6C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05150"/>
            <a:ext cx="35623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clusion-card-3">
            <a:extLst xmlns:a="http://schemas.openxmlformats.org/drawingml/2006/main">
              <a:ext uri="{FF2B5EF4-FFF2-40B4-BE49-F238E27FC236}">
                <a16:creationId xmlns:a16="http://schemas.microsoft.com/office/drawing/2014/main" id="{03B5968C-9075-4195-B475-8E1F2C8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5623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clusion-stat-1">
            <a:extLst xmlns:a="http://schemas.openxmlformats.org/drawingml/2006/main">
              <a:ext uri="{FF2B5EF4-FFF2-40B4-BE49-F238E27FC236}">
                <a16:creationId xmlns:a16="http://schemas.microsoft.com/office/drawing/2014/main" id="{7096EBBB-F957-4836-8091-FA8AD99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38B45"/>
                </a:solidFill>
                <a:latin typeface="Arial"/>
                <a:ea typeface="Arial"/>
                <a:cs typeface="Arial"/>
              </a:defRPr>
            </a:pPr>
            <a:r>
              <a:t>26/27</a:t>
            </a:r>
          </a:p>
        </p:txBody>
      </p:sp>
      <p:sp>
        <p:nvSpPr>
          <p:cNvPr id="7" name="conclusion-label-1">
            <a:extLst xmlns:a="http://schemas.openxmlformats.org/drawingml/2006/main">
              <a:ext uri="{FF2B5EF4-FFF2-40B4-BE49-F238E27FC236}">
                <a16:creationId xmlns:a16="http://schemas.microsoft.com/office/drawing/2014/main" id="{2AD3308E-8ED4-41FD-9258-E088174E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EU-Staaten erfüllen
die These</a:t>
            </a:r>
          </a:p>
        </p:txBody>
      </p:sp>
      <p:sp>
        <p:nvSpPr>
          <p:cNvPr id="8" name="conclusion-stat-2">
            <a:extLst xmlns:a="http://schemas.openxmlformats.org/drawingml/2006/main">
              <a:ext uri="{FF2B5EF4-FFF2-40B4-BE49-F238E27FC236}">
                <a16:creationId xmlns:a16="http://schemas.microsoft.com/office/drawing/2014/main" id="{F0ED6AD1-4103-4F40-8D63-8B6BC2F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0045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95F02"/>
                </a:solidFill>
                <a:latin typeface="Arial"/>
                <a:ea typeface="Arial"/>
                <a:cs typeface="Arial"/>
              </a:defRPr>
            </a:pPr>
            <a:r>
              <a:t>−34,1 %</a:t>
            </a:r>
          </a:p>
        </p:txBody>
      </p:sp>
      <p:sp>
        <p:nvSpPr>
          <p:cNvPr id="9" name="conclusion-label-2">
            <a:extLst xmlns:a="http://schemas.openxmlformats.org/drawingml/2006/main">
              <a:ext uri="{FF2B5EF4-FFF2-40B4-BE49-F238E27FC236}">
                <a16:creationId xmlns:a16="http://schemas.microsoft.com/office/drawing/2014/main" id="{EFCF6C80-7CFD-4DF9-A629-0A43AEA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1965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deutsches CO₂
seit 2005</a:t>
            </a:r>
          </a:p>
        </p:txBody>
      </p:sp>
      <p:sp>
        <p:nvSpPr>
          <p:cNvPr id="10" name="conclusion-stat-3">
            <a:extLst xmlns:a="http://schemas.openxmlformats.org/drawingml/2006/main">
              <a:ext uri="{FF2B5EF4-FFF2-40B4-BE49-F238E27FC236}">
                <a16:creationId xmlns:a16="http://schemas.microsoft.com/office/drawing/2014/main" id="{82D3C42F-2783-4264-A598-1B4DABD9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487 Mio. t</a:t>
            </a:r>
          </a:p>
        </p:txBody>
      </p:sp>
      <p:sp>
        <p:nvSpPr>
          <p:cNvPr id="11" name="conclusion-label-3">
            <a:extLst xmlns:a="http://schemas.openxmlformats.org/drawingml/2006/main">
              <a:ext uri="{FF2B5EF4-FFF2-40B4-BE49-F238E27FC236}">
                <a16:creationId xmlns:a16="http://schemas.microsoft.com/office/drawing/2014/main" id="{3A597F7C-7E2E-4D6C-8B4A-8A5B373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965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Punktprognose
für 2030</a:t>
            </a:r>
          </a:p>
        </p:txBody>
      </p:sp>
      <p:sp>
        <p:nvSpPr>
          <p:cNvPr id="12" name="source-7">
            <a:extLst xmlns:a="http://schemas.openxmlformats.org/drawingml/2006/main">
              <a:ext uri="{FF2B5EF4-FFF2-40B4-BE49-F238E27FC236}">
                <a16:creationId xmlns:a16="http://schemas.microsoft.com/office/drawing/2014/main" id="{018909F8-9628-40FA-B586-21573A3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Vollständige Methodik, Quellen und KI-Dokumentation im Projektordner</a:t>
            </a:r>
          </a:p>
        </p:txBody>
      </p:sp>
      <p:sp>
        <p:nvSpPr>
          <p:cNvPr id="13" name="page-7">
            <a:extLst xmlns:a="http://schemas.openxmlformats.org/drawingml/2006/main">
              <a:ext uri="{FF2B5EF4-FFF2-40B4-BE49-F238E27FC236}">
                <a16:creationId xmlns:a16="http://schemas.microsoft.com/office/drawing/2014/main" id="{68A456A0-A456-46CF-BD31-55F9C64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05866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2026-07-21T11:59:05.3960000Z</dcterms:created>
  <dcterms:modified xsi:type="dcterms:W3CDTF">2026-07-21T11:59:05.3960000Z</dcterms:modified>
</coreProperties>
</file>