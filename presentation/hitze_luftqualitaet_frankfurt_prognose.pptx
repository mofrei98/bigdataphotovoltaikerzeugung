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ff731c9a4e495d" /><Relationship Type="http://schemas.openxmlformats.org/officeDocument/2006/relationships/extended-properties" Target="/docProps/app.xml" Id="R39c664ac27d843c8" /><Relationship Type="http://schemas.openxmlformats.org/officeDocument/2006/relationships/officeDocument" Target="/ppt/presentation.xml" Id="Rfb6e5a9f884740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89c8290db6490b"/>
  </p:sldMasterIdLst>
  <p:notesMasterIdLst>
    <p:notesMasterId xmlns:r="http://schemas.openxmlformats.org/officeDocument/2006/relationships" r:id="Rfad7313122c14737"/>
  </p:notesMasterIdLst>
  <p:sldIdLst>
    <p:sldId xmlns:r="http://schemas.openxmlformats.org/officeDocument/2006/relationships" id="256" r:id="Rde42f592525345be"/>
    <p:sldId xmlns:r="http://schemas.openxmlformats.org/officeDocument/2006/relationships" id="257" r:id="Rfde67378ff1a415a"/>
    <p:sldId xmlns:r="http://schemas.openxmlformats.org/officeDocument/2006/relationships" id="258" r:id="R62b8a63ba7f14e8e"/>
    <p:sldId xmlns:r="http://schemas.openxmlformats.org/officeDocument/2006/relationships" id="259" r:id="R20ca8cc12eaf474f"/>
    <p:sldId xmlns:r="http://schemas.openxmlformats.org/officeDocument/2006/relationships" id="260" r:id="R903d5e8a13d54d11"/>
    <p:sldId xmlns:r="http://schemas.openxmlformats.org/officeDocument/2006/relationships" id="261" r:id="R090aade8789f4d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cd401f27484fb3" /><Relationship Type="http://schemas.openxmlformats.org/officeDocument/2006/relationships/slideMaster" Target="/ppt/slideMasters/slideMaster1.xml" Id="R3e89c8290db6490b" /><Relationship Type="http://schemas.openxmlformats.org/officeDocument/2006/relationships/notesMaster" Target="/ppt/notesMasters/notesMaster1.xml" Id="Rfad7313122c14737" /><Relationship Type="http://schemas.openxmlformats.org/officeDocument/2006/relationships/presProps" Target="/ppt/presProps.xml" Id="Rb42cf0acb5a44f99" /><Relationship Type="http://schemas.openxmlformats.org/officeDocument/2006/relationships/tableStyles" Target="/ppt/tableStyles.xml" Id="Rb8d7d273ddbb4ee5" /><Relationship Type="http://schemas.openxmlformats.org/officeDocument/2006/relationships/slide" Target="/ppt/slides/slide1.xml" Id="Rde42f592525345be" /><Relationship Type="http://schemas.openxmlformats.org/officeDocument/2006/relationships/slide" Target="/ppt/slides/slide2.xml" Id="Rfde67378ff1a415a" /><Relationship Type="http://schemas.openxmlformats.org/officeDocument/2006/relationships/slide" Target="/ppt/slides/slide3.xml" Id="R62b8a63ba7f14e8e" /><Relationship Type="http://schemas.openxmlformats.org/officeDocument/2006/relationships/slide" Target="/ppt/slides/slide4.xml" Id="R20ca8cc12eaf474f" /><Relationship Type="http://schemas.openxmlformats.org/officeDocument/2006/relationships/slide" Target="/ppt/slides/slide5.xml" Id="R903d5e8a13d54d11" /><Relationship Type="http://schemas.openxmlformats.org/officeDocument/2006/relationships/slide" Target="/ppt/slides/slide6.xml" Id="R090aade8789f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6784339d29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cf23162c244cd0" /><Relationship Type="http://schemas.openxmlformats.org/officeDocument/2006/relationships/notesMaster" Target="/ppt/notesMasters/notesMaster1.xml" Id="R7e74740134474d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116d16c5544727" /><Relationship Type="http://schemas.openxmlformats.org/officeDocument/2006/relationships/notesMaster" Target="/ppt/notesMasters/notesMaster1.xml" Id="Re4e4d64308754d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3945ebd416404b" /><Relationship Type="http://schemas.openxmlformats.org/officeDocument/2006/relationships/notesMaster" Target="/ppt/notesMasters/notesMaster1.xml" Id="R9c7dfac24da748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69088de86b4685" /><Relationship Type="http://schemas.openxmlformats.org/officeDocument/2006/relationships/notesMaster" Target="/ppt/notesMasters/notesMaster1.xml" Id="R1ea1b42fca1c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43bb656d0e46bb" /><Relationship Type="http://schemas.openxmlformats.org/officeDocument/2006/relationships/notesMaster" Target="/ppt/notesMasters/notesMaster1.xml" Id="Rbcf2f66a6185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26ffd020074631" /><Relationship Type="http://schemas.openxmlformats.org/officeDocument/2006/relationships/notesMaster" Target="/ppt/notesMasters/notesMaster1.xml" Id="Re77f19278d6d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3bb7c2c17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c7174ba3954cd7" /><Relationship Type="http://schemas.openxmlformats.org/officeDocument/2006/relationships/slideLayout" Target="/ppt/slideLayouts/slideLayout1.xml" Id="R0b944558982e45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944558982e45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d1eb177e74cc0" /><Relationship Type="http://schemas.openxmlformats.org/officeDocument/2006/relationships/notesSlide" Target="/ppt/notesSlides/notesSlide1.xml" Id="R41c6e861690443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89cddb4bc441c" /><Relationship Type="http://schemas.openxmlformats.org/officeDocument/2006/relationships/notesSlide" Target="/ppt/notesSlides/notesSlide2.xml" Id="R0511772e31294f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1b98a150f49b1" /><Relationship Type="http://schemas.openxmlformats.org/officeDocument/2006/relationships/chart" Target="/ppt/slides/charts/chart1.xml" Id="Rfca4ea0aa24e49ee" /><Relationship Type="http://schemas.openxmlformats.org/officeDocument/2006/relationships/notesSlide" Target="/ppt/notesSlides/notesSlide3.xml" Id="Re33b8c48dac84b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540e34a374b74" /><Relationship Type="http://schemas.openxmlformats.org/officeDocument/2006/relationships/chart" Target="/ppt/slides/charts/chart2.xml" Id="R95035ce22f8f4b32" /><Relationship Type="http://schemas.openxmlformats.org/officeDocument/2006/relationships/notesSlide" Target="/ppt/notesSlides/notesSlide4.xml" Id="R82566cb8735d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8d9381a3d4170" /><Relationship Type="http://schemas.openxmlformats.org/officeDocument/2006/relationships/chart" Target="/ppt/slides/charts/chart3.xml" Id="R20e6b37217814a2f" /><Relationship Type="http://schemas.openxmlformats.org/officeDocument/2006/relationships/notesSlide" Target="/ppt/notesSlides/notesSlide5.xml" Id="R18ce3327db8d4e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80ac1f2c24fdb" /><Relationship Type="http://schemas.openxmlformats.org/officeDocument/2006/relationships/notesSlide" Target="/ppt/notesSlides/notesSlide6.xml" Id="R0caaa809044d48e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Heiß minus Referenz</c:v>
          </c:tx>
          <c:spPr>
            <a:solidFill xmlns:a="http://schemas.openxmlformats.org/drawingml/2006/main">
              <a:srgbClr val="D95F02"/>
            </a:solidFill>
          </c:spPr>
          <c:cat>
            <c:strLit>
              <c:ptCount val="2"/>
              <c:pt idx="0">
                <c:v>Ozon (O₃)</c:v>
              </c:pt>
              <c:pt idx="1">
                <c:v>Stickstoffdioxid (NO₂)</c:v>
              </c:pt>
            </c:strLit>
          </c:cat>
          <c:val>
            <c:numLit>
              <c:formatCode>General</c:formatCode>
              <c:ptCount val="2"/>
              <c:pt idx="0">
                <c:v>46.7</c:v>
              </c:pt>
              <c:pt idx="1">
                <c:v>11.9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Ozon</c:v>
          </c:tx>
          <c:spPr>
            <a:solidFill xmlns:a="http://schemas.openxmlformats.org/drawingml/2006/main">
              <a:srgbClr val="D95F02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28.107229894394802</c:v>
              </c:pt>
              <c:pt idx="1">
                <c:v>50.3448275862069</c:v>
              </c:pt>
            </c:numLit>
          </c:val>
        </c:ser>
        <c:ser>
          <c:idx val="1"/>
          <c:order val="1"/>
          <c:tx>
            <c:v>NO₂</c:v>
          </c:tx>
          <c:spPr>
            <a:solidFill xmlns:a="http://schemas.openxmlformats.org/drawingml/2006/main">
              <a:srgbClr val="1F78B4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64.4191714053615</c:v>
              </c:pt>
              <c:pt idx="1">
                <c:v>47.58620689655172</c:v>
              </c:pt>
            </c:numLit>
          </c:val>
        </c:ser>
        <c:ser>
          <c:idx val="2"/>
          <c:order val="2"/>
          <c:tx>
            <c:v>PM₁₀</c:v>
          </c:tx>
          <c:spPr>
            <a:solidFill xmlns:a="http://schemas.openxmlformats.org/drawingml/2006/main">
              <a:srgbClr val="7570B3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5.361494719740049</c:v>
              </c:pt>
              <c:pt idx="1">
                <c:v>2.0689655172413794</c:v>
              </c:pt>
            </c:numLit>
          </c:val>
        </c:ser>
        <c:ser>
          <c:idx val="3"/>
          <c:order val="3"/>
          <c:tx>
            <c:v>PM₂,₅</c:v>
          </c:tx>
          <c:spPr>
            <a:solidFill xmlns:a="http://schemas.openxmlformats.org/drawingml/2006/main">
              <a:srgbClr val="66A61E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2.1121039805036554</c:v>
              </c:pt>
              <c:pt idx="1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Mehrheitsklasse</c:v>
              </c:pt>
              <c:pt idx="1">
                <c:v>Random Forest</c:v>
              </c:pt>
              <c:pt idx="2">
                <c:v>Logistische Regression</c:v>
              </c:pt>
            </c:strLit>
          </c:cat>
          <c:val>
            <c:numLit>
              <c:formatCode>General</c:formatCode>
              <c:ptCount val="3"/>
              <c:pt idx="0">
                <c:v>18.903993203058626</c:v>
              </c:pt>
              <c:pt idx="1">
                <c:v>49.26312826246862</c:v>
              </c:pt>
              <c:pt idx="2">
                <c:v>48.82781829983189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00000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t-mark">
            <a:extLst xmlns:a="http://schemas.openxmlformats.org/drawingml/2006/main">
              <a:ext uri="{FF2B5EF4-FFF2-40B4-BE49-F238E27FC236}">
                <a16:creationId xmlns:a16="http://schemas.microsoft.com/office/drawing/2014/main" id="{A4C50BA3-C1F2-449B-A6C8-D34E2D4C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09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8B68D-8C26-42D4-86C6-C9B6E863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19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FALLSTUDIE FRANKFURT · 2016–2025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9A0C1-948F-452A-A34D-A9A4995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334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Hitze verändert
die städtische Luft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A1FEB-0AB2-460E-92DA-DA3A610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857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These prüfen · HLNUG und DWD verbinden · dominierenden Schadstoff am Folgetag prognostizieren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43DB2-B88F-42EB-B682-FBC021C8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Jupyter-Analyse und kurze Ergebnispräsentation</a:t>
            </a:r>
          </a:p>
        </p:txBody>
      </p:sp>
    </p:spTree>
    <p:extLst>
      <p:ext uri="{BB962C8B-B14F-4D97-AF65-F5344CB8AC3E}">
        <p14:creationId xmlns:p14="http://schemas.microsoft.com/office/powerpoint/2010/main" val="1867510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B341F7-889E-441E-87DF-8E801D1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29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87.552 Stundenwerte werden zu einer prüfbaren Tagesfrage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FFE8152-7980-42B2-8519-C9B630DE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0C9F7-2815-46BA-8B44-0DA448A9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FE56E-A32A-4524-ADE4-323504E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Quellen: HLNUG-Messdatenportal; DWD Climate Data Center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676A4A69-998A-41AE-8B07-34A97D21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855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24528C76-443C-4B94-B054-3120A0B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18426-656F-4D39-B029-F2BE4D4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LUFT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C3B7D-558E-41CF-AE6D-990D900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HLNUG DEHE005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2516F-084A-49A3-AF85-D7C25C06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O₃ · NO₂ · PM₁₀
PM₂,₅ · SO₂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33FFE466-E923-4C47-A8F1-3D4716D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8F333-FD2C-4394-A448-568EC0AE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WETTER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3373B-8860-488D-85C5-FF211CF1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DWD 01420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40F29-5007-48AE-82F7-CCBD7945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Temperatur · Wind
Regen · Sonne · Strahlung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10747AC7-8713-4602-B2EA-B1ECAB6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B0618-2E03-4C0C-BD3B-4038C87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JOIN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20244-4AF0-414F-A11F-365D3234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8,6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31687-EB4C-4492-9FE6-58D454E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UTC-Zeitabgleich
lokaler Kalendertag</a:t>
            </a:r>
          </a:p>
        </p:txBody>
      </p:sp>
      <p:sp>
        <p:nvSpPr>
          <p:cNvPr id="18" name="dot-3">
            <a:extLst xmlns:a="http://schemas.openxmlformats.org/drawingml/2006/main">
              <a:ext uri="{FF2B5EF4-FFF2-40B4-BE49-F238E27FC236}">
                <a16:creationId xmlns:a16="http://schemas.microsoft.com/office/drawing/2014/main" id="{6CD332EE-0375-4AF2-B591-1A4F2E9C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3B73B-5B60-4325-87DD-3F8E1AC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TAGESZIEL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7FE3A-FA73-43B3-AF11-9BA378E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LQI-Winner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E50DE-CD7F-4926-839E-90CABC80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höchster Einzelindex
pro Kalendertag</a:t>
            </a:r>
          </a:p>
        </p:txBody>
      </p:sp>
    </p:spTree>
    <p:extLst>
      <p:ext uri="{BB962C8B-B14F-4D97-AF65-F5344CB8AC3E}">
        <p14:creationId xmlns:p14="http://schemas.microsoft.com/office/powerpoint/2010/main" val="883776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87C3EE-6952-4FFB-A4D2-8A41E395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Ozon steigt stark – NO₂ sinkt nicht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8F8E303-169E-44CA-8CF9-5F612334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3DEEA-6FCF-4405-9AA2-61103EBD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04749-3B5A-4618-B946-1FFE604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Heiße Tage: Mai–September, oberstes Temperaturdezil (Tmax ≥ 30,8 °C); Medianvergleich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14350" y="1619250"/>
          <a:ext xmlns:a="http://schemas.openxmlformats.org/drawingml/2006/main" cx="5238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a4ea0aa24e49ee"/>
          </a:graphicData>
        </a:graphic>
      </p:graphicFrame>
      <p:sp>
        <p:nvSpPr>
          <p:cNvPr id="6" name="card-660-160">
            <a:extLst xmlns:a="http://schemas.openxmlformats.org/drawingml/2006/main">
              <a:ext uri="{FF2B5EF4-FFF2-40B4-BE49-F238E27FC236}">
                <a16:creationId xmlns:a16="http://schemas.microsoft.com/office/drawing/2014/main" id="{EB48A7B8-6019-4A4B-B17E-82D4DD2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143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accent-660-160">
            <a:extLst xmlns:a="http://schemas.openxmlformats.org/drawingml/2006/main">
              <a:ext uri="{FF2B5EF4-FFF2-40B4-BE49-F238E27FC236}">
                <a16:creationId xmlns:a16="http://schemas.microsoft.com/office/drawing/2014/main" id="{8A2611B7-66E7-47E9-8B69-BAC6F75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DC29-2066-441F-B08D-125AAE2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648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+46,7 µg/m³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55FB4-FE5E-48F9-B3C3-9FC22197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464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Ozonmaximum an heißen Tagen
p &lt; 0,001</a:t>
            </a:r>
          </a:p>
        </p:txBody>
      </p:sp>
      <p:sp>
        <p:nvSpPr>
          <p:cNvPr id="10" name="card-660-382">
            <a:extLst xmlns:a="http://schemas.openxmlformats.org/drawingml/2006/main">
              <a:ext uri="{FF2B5EF4-FFF2-40B4-BE49-F238E27FC236}">
                <a16:creationId xmlns:a16="http://schemas.microsoft.com/office/drawing/2014/main" id="{35756A79-2580-420B-AB91-47BC383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5143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1" name="accent-660-382">
            <a:extLst xmlns:a="http://schemas.openxmlformats.org/drawingml/2006/main">
              <a:ext uri="{FF2B5EF4-FFF2-40B4-BE49-F238E27FC236}">
                <a16:creationId xmlns:a16="http://schemas.microsoft.com/office/drawing/2014/main" id="{F21DEEC6-341D-429F-A359-F545B3E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8B4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F77FB-7572-4F0A-BACC-BBA5677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4648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+11,9 µg/m³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F69EA-F72D-45EE-B6D6-E016C426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64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NO₂-Maximum steigt ebenfalls
These nicht vollständig unterstützt</a:t>
            </a:r>
          </a:p>
        </p:txBody>
      </p:sp>
    </p:spTree>
    <p:extLst>
      <p:ext uri="{BB962C8B-B14F-4D97-AF65-F5344CB8AC3E}">
        <p14:creationId xmlns:p14="http://schemas.microsoft.com/office/powerpoint/2010/main" val="2098830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709BC-5CE2-4D3A-9251-9B7AA57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Hitze verschiebt die Dominanz in Richtung Ozon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6D44DA-0E28-466C-98DB-38E2B989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69E12-6E2E-4BA9-8444-B34DD5CF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B0A99-2C7D-4992-A2DE-D78B276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Dominanz = höchster täglicher LQI-Einzelindex; warme Tage Mai–September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035ce22f8f4b32"/>
          </a:graphicData>
        </a:graphic>
      </p:graphicFrame>
      <p:sp>
        <p:nvSpPr>
          <p:cNvPr id="6" name="card-830-180">
            <a:extLst xmlns:a="http://schemas.openxmlformats.org/drawingml/2006/main">
              <a:ext uri="{FF2B5EF4-FFF2-40B4-BE49-F238E27FC236}">
                <a16:creationId xmlns:a16="http://schemas.microsoft.com/office/drawing/2014/main" id="{9A637504-A461-476F-9FB8-1D2324B8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accent-830-180">
            <a:extLst xmlns:a="http://schemas.openxmlformats.org/drawingml/2006/main">
              <a:ext uri="{FF2B5EF4-FFF2-40B4-BE49-F238E27FC236}">
                <a16:creationId xmlns:a16="http://schemas.microsoft.com/office/drawing/2014/main" id="{D4064979-801B-4508-B78E-6165966C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3CF10-E487-4199-A00A-90270132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3028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28 → 50 %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BC368-8CBC-4DF9-BC9E-438B5C5F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028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Ozon dominiert an heißen Tagen deutlich häufiger.</a:t>
            </a:r>
          </a:p>
        </p:txBody>
      </p:sp>
      <p:sp>
        <p:nvSpPr>
          <p:cNvPr id="10" name="card-830-382">
            <a:extLst xmlns:a="http://schemas.openxmlformats.org/drawingml/2006/main">
              <a:ext uri="{FF2B5EF4-FFF2-40B4-BE49-F238E27FC236}">
                <a16:creationId xmlns:a16="http://schemas.microsoft.com/office/drawing/2014/main" id="{C4155543-F895-4272-9FF5-AC7192A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1" name="accent-830-382">
            <a:extLst xmlns:a="http://schemas.openxmlformats.org/drawingml/2006/main">
              <a:ext uri="{FF2B5EF4-FFF2-40B4-BE49-F238E27FC236}">
                <a16:creationId xmlns:a16="http://schemas.microsoft.com/office/drawing/2014/main" id="{A6AB75B2-BD0D-477F-B4D4-0B05AF1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70B3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1AE49-B9FD-416C-82D6-6506D293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3028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64 → 48 %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0AA30-FD42-4C85-98A5-78339F27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3028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1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NO₂ dominiert an heißen Tagen seltener.</a:t>
            </a:r>
          </a:p>
        </p:txBody>
      </p:sp>
    </p:spTree>
    <p:extLst>
      <p:ext uri="{BB962C8B-B14F-4D97-AF65-F5344CB8AC3E}">
        <p14:creationId xmlns:p14="http://schemas.microsoft.com/office/powerpoint/2010/main" val="965254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CC94E-AB2F-4F1E-89FF-F2913B9E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Das Lernmodell schlägt die Baseline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D47591-304E-47CB-81F8-F4107579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6B56F-54AA-458C-AE8C-26482CEA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A6BD6-F5DF-4818-9B0B-16C299D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Zeitlich getrennter Test: 2024–2025 (732 Tage); Auswahl nach Macro-F1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90550" y="1619250"/>
          <a:ext xmlns:a="http://schemas.openxmlformats.org/drawingml/2006/main" cx="5334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e6b37217814a2f"/>
          </a:graphicData>
        </a:graphic>
      </p:graphicFrame>
      <p:sp>
        <p:nvSpPr>
          <p:cNvPr id="6" name="model-title-rule">
            <a:extLst xmlns:a="http://schemas.openxmlformats.org/drawingml/2006/main">
              <a:ext uri="{FF2B5EF4-FFF2-40B4-BE49-F238E27FC236}">
                <a16:creationId xmlns:a16="http://schemas.microsoft.com/office/drawing/2014/main" id="{185662F1-39BF-49ED-8C1A-5174B5CF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7155B-2E20-44EB-B4CA-FC803E6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Eingaben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27EB6-6C87-4A35-B21A-59338D39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762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heutige Einzelindizes
+ Wetterprognose morgen
+ Jahreszeit</a:t>
            </a:r>
          </a:p>
        </p:txBody>
      </p:sp>
      <p:sp>
        <p:nvSpPr>
          <p:cNvPr id="9" name="card-684-396">
            <a:extLst xmlns:a="http://schemas.openxmlformats.org/drawingml/2006/main">
              <a:ext uri="{FF2B5EF4-FFF2-40B4-BE49-F238E27FC236}">
                <a16:creationId xmlns:a16="http://schemas.microsoft.com/office/drawing/2014/main" id="{570B04D9-84DD-49FA-BA2C-E7DA471D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0" name="accent-684-396">
            <a:extLst xmlns:a="http://schemas.openxmlformats.org/drawingml/2006/main">
              <a:ext uri="{FF2B5EF4-FFF2-40B4-BE49-F238E27FC236}">
                <a16:creationId xmlns:a16="http://schemas.microsoft.com/office/drawing/2014/main" id="{D5CBD8BF-AA44-407C-865D-8CD0C70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20746-1D38-4945-929A-138CBEA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17430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72 %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11034-100E-4C1A-98EF-600A54A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00600"/>
            <a:ext cx="1743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Accuracy
auf 732 Testtagen</a:t>
            </a:r>
          </a:p>
        </p:txBody>
      </p:sp>
      <p:sp>
        <p:nvSpPr>
          <p:cNvPr id="13" name="card-953-396">
            <a:extLst xmlns:a="http://schemas.openxmlformats.org/drawingml/2006/main">
              <a:ext uri="{FF2B5EF4-FFF2-40B4-BE49-F238E27FC236}">
                <a16:creationId xmlns:a16="http://schemas.microsoft.com/office/drawing/2014/main" id="{3054AFD2-F8D3-40A4-8EFB-F723A3F5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7190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accent-953-396">
            <a:extLst xmlns:a="http://schemas.openxmlformats.org/drawingml/2006/main">
              <a:ext uri="{FF2B5EF4-FFF2-40B4-BE49-F238E27FC236}">
                <a16:creationId xmlns:a16="http://schemas.microsoft.com/office/drawing/2014/main" id="{FE592C74-9B0C-403A-B643-AD643EA0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719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DBCD9-988A-47A6-9715-AF47024E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00500"/>
            <a:ext cx="17430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0,49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549BD-687C-4CDA-8E2F-07789E0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1743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Macro-F1
Random Forest</a:t>
            </a:r>
          </a:p>
        </p:txBody>
      </p:sp>
    </p:spTree>
    <p:extLst>
      <p:ext uri="{BB962C8B-B14F-4D97-AF65-F5344CB8AC3E}">
        <p14:creationId xmlns:p14="http://schemas.microsoft.com/office/powerpoint/2010/main" val="1765444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clusion-mark">
            <a:extLst xmlns:a="http://schemas.openxmlformats.org/drawingml/2006/main">
              <a:ext uri="{FF2B5EF4-FFF2-40B4-BE49-F238E27FC236}">
                <a16:creationId xmlns:a16="http://schemas.microsoft.com/office/drawing/2014/main" id="{FB8480D9-D25D-4F2D-B496-A5C3D76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09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124D7-5F33-4570-B8F6-C5CD21A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FAZIT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BC63F-E1FE-4832-BE32-7FFFDEC1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Hitze verändert die Belastung –
aber nicht exakt wie erwartet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2CC7C-40EF-49B4-807C-2E6A1A2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9525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  Ozonmaximum: +46,7 µg/m³ (p &lt; 0,001).
2  NO₂ ebenfalls +11,9: These nur teilweise gestützt.
3  Random Forest: 72 % Accuracy, Macro-F1 0,49.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3A54D-371D-4ECF-9B62-94298A8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HLNUG + DWD · Einzelstandort · Zusammenhang, keine Kausalität · keine amtliche Warnung</a:t>
            </a:r>
          </a:p>
        </p:txBody>
      </p:sp>
    </p:spTree>
    <p:extLst>
      <p:ext uri="{BB962C8B-B14F-4D97-AF65-F5344CB8AC3E}">
        <p14:creationId xmlns:p14="http://schemas.microsoft.com/office/powerpoint/2010/main" val="944571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2026-07-22T14:47:20.1960000Z</dcterms:created>
  <dcterms:modified xsi:type="dcterms:W3CDTF">2026-07-22T14:47:20.1960000Z</dcterms:modified>
</coreProperties>
</file>